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GAPAGO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</a:defRPr>
            </a:pPr>
            <a:r>
              <a:t>LangGraph-based Multi-Agent Research Gap Analysis System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0116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97280"/>
            <a:ext cx="2103120" cy="237744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C0D"/>
                </a:solidFill>
              </a:defRPr>
            </a:pPr>
            <a:r>
              <a:t>1. Query Analysis</a:t>
            </a: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query_analysis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Azure GPT · SemRank scope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human_clarify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interrupt · user input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query_refine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Azure GPT · APA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TOO_BROAD/NARROW → clarify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SEARCHABLE → refine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097280"/>
            <a:ext cx="2926080" cy="2377440"/>
          </a:xfrm>
          <a:prstGeom prst="rect">
            <a:avLst/>
          </a:prstGeom>
          <a:solidFill>
            <a:srgbClr val="EAF2F8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E86C1"/>
                </a:solidFill>
              </a:defRPr>
            </a:pPr>
            <a:r>
              <a:t>2. Search &amp; Retrieval</a:t>
            </a: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meaning_expand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Azure GPT · keyword expansion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paper_retrieval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BM25 + FAISS + CrossEncoder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2926080"/>
            <a:ext cx="658368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arXiv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2926080"/>
            <a:ext cx="658368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Crossref</a:t>
            </a:r>
          </a:p>
        </p:txBody>
      </p:sp>
      <p:sp>
        <p:nvSpPr>
          <p:cNvPr id="9" name="Rectangle 8"/>
          <p:cNvSpPr/>
          <p:nvPr/>
        </p:nvSpPr>
        <p:spPr>
          <a:xfrm>
            <a:off x="4928616" y="2926080"/>
            <a:ext cx="658368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Semantic Scholar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2926080"/>
            <a:ext cx="658368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OpenAlex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218688"/>
            <a:ext cx="658368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ScienceON 논문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3218688"/>
            <a:ext cx="658368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ScienceON 특허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8616" y="3218688"/>
            <a:ext cx="658368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ScienceON 보고서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2704" y="3218688"/>
            <a:ext cx="658368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/>
            </a:pPr>
            <a:r>
              <a:t>Tavily Web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097280"/>
            <a:ext cx="2011680" cy="2377440"/>
          </a:xfrm>
          <a:prstGeom prst="rect">
            <a:avLst/>
          </a:prstGeom>
          <a:solidFill>
            <a:srgbClr val="FDEDEC"/>
          </a:solidFill>
          <a:ln w="25400">
            <a:solidFill>
              <a:srgbClr val="CB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B4335"/>
                </a:solidFill>
              </a:defRPr>
            </a:pPr>
            <a:r>
              <a:t>3. Limitation Extraction</a:t>
            </a: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limitation_extract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Claude · full text only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cross_verify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quote + claim check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verified=False → removed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2011680" cy="2377440"/>
          </a:xfrm>
          <a:prstGeom prst="rect">
            <a:avLst/>
          </a:prstGeom>
          <a:solidFill>
            <a:srgbClr val="F5EEF8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D3C98"/>
                </a:solidFill>
              </a:defRPr>
            </a:pPr>
            <a:r>
              <a:t>4. Quality Evaluation</a:t>
            </a: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limitation_eval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Azure GPT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FActScore + Prometheus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strong → weight 1.0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weak → weight 0.3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remove → dropped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228600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08960" y="228600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9360" y="228600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95360" y="228600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B4335"/>
                </a:solidFill>
              </a:defRPr>
            </a:pPr>
            <a:r>
              <a:t>← RETRY → limitation_extract     ← REDO_RETRIEVAL → meaning_expand     ← REFINE_QUERY → query_analysis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A589"/>
                </a:solidFill>
              </a:defRPr>
            </a:pPr>
            <a:r>
              <a:t>PASS 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206240"/>
            <a:ext cx="2286000" cy="2377440"/>
          </a:xfrm>
          <a:prstGeom prst="rect">
            <a:avLst/>
          </a:prstGeom>
          <a:solidFill>
            <a:srgbClr val="E8F8F5"/>
          </a:solidFill>
          <a:ln w="25400">
            <a:solidFill>
              <a:srgbClr val="17A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7A589"/>
                </a:solidFill>
              </a:defRPr>
            </a:pPr>
            <a:r>
              <a:t>5. Recency &amp; Gap Inference</a:t>
            </a: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recency_check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Azure GPT + Tavily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gap_infer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Groq Qwen3-32B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dynamic axes + barriers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unresolved 1.0 · partial 0.5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resolved 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206240"/>
            <a:ext cx="2286000" cy="2377440"/>
          </a:xfrm>
          <a:prstGeom prst="rect">
            <a:avLst/>
          </a:prstGeom>
          <a:solidFill>
            <a:srgbClr val="D6EAF8"/>
          </a:solidFill>
          <a:ln w="25400">
            <a:solidFill>
              <a:srgbClr val="287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874A6"/>
                </a:solidFill>
              </a:defRPr>
            </a:pPr>
            <a:r>
              <a:t>6. Critic &amp; Response</a:t>
            </a: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critic_score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Azure GPT · LLM-as-Judge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3 metrics (0.0~1.0)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final_response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Claude · 5-section report</a:t>
            </a:r>
          </a:p>
        </p:txBody>
      </p:sp>
      <p:sp>
        <p:nvSpPr>
          <p:cNvPr id="25" name="Oval 24"/>
          <p:cNvSpPr/>
          <p:nvPr/>
        </p:nvSpPr>
        <p:spPr>
          <a:xfrm>
            <a:off x="6126480" y="51206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4206240"/>
            <a:ext cx="2103120" cy="2377440"/>
          </a:xfrm>
          <a:prstGeom prst="rect">
            <a:avLst/>
          </a:prstGeom>
          <a:solidFill>
            <a:srgbClr val="FEF5E7"/>
          </a:solidFill>
          <a:ln w="25400">
            <a:solidFill>
              <a:srgbClr val="CA6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A6F1E"/>
                </a:solidFill>
              </a:defRPr>
            </a:pPr>
            <a:r>
              <a:t>7. Follow-up Chat</a:t>
            </a: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gap_chat_agent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POST /api/chat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pipeline result as context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User ↔ AI multi-turn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4206240"/>
            <a:ext cx="2103120" cy="2377440"/>
          </a:xfrm>
          <a:prstGeom prst="rect">
            <a:avLst/>
          </a:prstGeom>
          <a:solidFill>
            <a:srgbClr val="FDF2E9"/>
          </a:solidFill>
          <a:ln w="25400">
            <a:solidFill>
              <a:srgbClr val="E67E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7E22"/>
                </a:solidFill>
              </a:defRPr>
            </a:pPr>
            <a:r>
              <a:t>⚙ Orchestrator (optional)</a:t>
            </a:r>
          </a:p>
          <a:p>
            <a:pPr algn="ctr">
              <a:defRPr sz="1300" b="1">
                <a:solidFill>
                  <a:srgbClr val="2C3E50"/>
                </a:solidFill>
              </a:defRPr>
            </a:pPr>
            <a:r>
              <a:t>orchestrator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Groq Qwen3-32B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Command(goto=...)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동적 라우팅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모든 에이전트 제어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max 15 steps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91840" y="539496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52160" y="5394960"/>
            <a:ext cx="274320" cy="0"/>
          </a:xfrm>
          <a:prstGeom prst="line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52160" y="5029200"/>
            <a:ext cx="1005840" cy="0"/>
          </a:xfrm>
          <a:prstGeom prst="line">
            <a:avLst/>
          </a:prstGeom>
          <a:ln w="25400">
            <a:solidFill>
              <a:srgbClr val="CA6F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97880" y="4892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A6F1E"/>
                </a:solidFill>
              </a:defRPr>
            </a:pPr>
            <a:r>
              <a:t>result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